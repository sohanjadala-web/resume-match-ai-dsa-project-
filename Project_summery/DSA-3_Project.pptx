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052560" y="685800"/>
            <a:ext cx="594360" cy="530352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829800" y="685800"/>
            <a:ext cx="594360" cy="5303520"/>
          </a:xfrm>
          <a:prstGeom prst="rect">
            <a:avLst/>
          </a:prstGeom>
          <a:solidFill>
            <a:srgbClr val="3CA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607040" y="685800"/>
            <a:ext cx="594360" cy="530352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143000"/>
            <a:ext cx="7955279" cy="1463040"/>
          </a:xfrm>
          <a:prstGeom prst="rect">
            <a:avLst/>
          </a:prstGeom>
          <a:noFill/>
        </p:spPr>
        <p:txBody>
          <a:bodyPr wrap="none">
            <a:spAutoFit/>
          </a:bodyPr>
          <a:lstStyle/>
          <a:p>
            <a:r>
              <a:rPr sz="3400" b="1">
                <a:solidFill>
                  <a:srgbClr val="192D4B"/>
                </a:solidFill>
              </a:rPr>
              <a:t>Résumé–Job Matching
&amp; Talent Marketplace Engine</a:t>
            </a:r>
          </a:p>
        </p:txBody>
      </p:sp>
      <p:sp>
        <p:nvSpPr>
          <p:cNvPr id="7" name="TextBox 6"/>
          <p:cNvSpPr txBox="1"/>
          <p:nvPr/>
        </p:nvSpPr>
        <p:spPr>
          <a:xfrm>
            <a:off x="822960" y="2926080"/>
            <a:ext cx="3318986" cy="369332"/>
          </a:xfrm>
          <a:prstGeom prst="rect">
            <a:avLst/>
          </a:prstGeom>
          <a:noFill/>
        </p:spPr>
        <p:txBody>
          <a:bodyPr wrap="none">
            <a:spAutoFit/>
          </a:bodyPr>
          <a:lstStyle/>
          <a:p>
            <a:r>
              <a:rPr sz="1800" b="1" dirty="0">
                <a:solidFill>
                  <a:srgbClr val="3465A4"/>
                </a:solidFill>
              </a:rPr>
              <a:t>Data Structures &amp; Algorithms – 3</a:t>
            </a:r>
          </a:p>
        </p:txBody>
      </p:sp>
      <p:sp>
        <p:nvSpPr>
          <p:cNvPr id="8" name="TextBox 7"/>
          <p:cNvSpPr txBox="1"/>
          <p:nvPr/>
        </p:nvSpPr>
        <p:spPr>
          <a:xfrm>
            <a:off x="990600" y="4622321"/>
            <a:ext cx="5559535" cy="677108"/>
          </a:xfrm>
          <a:prstGeom prst="rect">
            <a:avLst/>
          </a:prstGeom>
          <a:noFill/>
        </p:spPr>
        <p:txBody>
          <a:bodyPr wrap="none">
            <a:spAutoFit/>
          </a:bodyPr>
          <a:lstStyle/>
          <a:p>
            <a:r>
              <a:rPr b="1" dirty="0">
                <a:solidFill>
                  <a:srgbClr val="232B34"/>
                </a:solidFill>
              </a:rPr>
              <a:t>Team 26  |  Section 12  |  A.Y. 2026–2027</a:t>
            </a:r>
          </a:p>
          <a:p>
            <a:r>
              <a:rPr sz="2000" b="1" dirty="0">
                <a:solidFill>
                  <a:srgbClr val="697480"/>
                </a:solidFill>
                <a:latin typeface="Times New Roman" panose="02020603050405020304" pitchFamily="18" charset="0"/>
                <a:cs typeface="Times New Roman" panose="02020603050405020304" pitchFamily="18" charset="0"/>
              </a:rPr>
              <a:t>J. Sohan</a:t>
            </a:r>
            <a:r>
              <a:rPr lang="en-US" sz="2000" b="1" dirty="0">
                <a:solidFill>
                  <a:srgbClr val="697480"/>
                </a:solidFill>
                <a:latin typeface="Times New Roman" panose="02020603050405020304" pitchFamily="18" charset="0"/>
                <a:cs typeface="Times New Roman" panose="02020603050405020304" pitchFamily="18" charset="0"/>
              </a:rPr>
              <a:t>-2520080060</a:t>
            </a:r>
            <a:r>
              <a:rPr sz="2000" b="1" dirty="0">
                <a:solidFill>
                  <a:srgbClr val="697480"/>
                </a:solidFill>
                <a:latin typeface="Times New Roman" panose="02020603050405020304" pitchFamily="18" charset="0"/>
                <a:cs typeface="Times New Roman" panose="02020603050405020304" pitchFamily="18" charset="0"/>
              </a:rPr>
              <a:t> • J. Sricharan</a:t>
            </a:r>
            <a:r>
              <a:rPr lang="en-US" sz="2000" b="1" dirty="0">
                <a:solidFill>
                  <a:srgbClr val="697480"/>
                </a:solidFill>
                <a:latin typeface="Times New Roman" panose="02020603050405020304" pitchFamily="18" charset="0"/>
                <a:cs typeface="Times New Roman" panose="02020603050405020304" pitchFamily="18" charset="0"/>
              </a:rPr>
              <a:t>-25200900137</a:t>
            </a:r>
            <a:endParaRPr sz="2000" b="1" dirty="0">
              <a:solidFill>
                <a:srgbClr val="69748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789920" cy="502920"/>
          </a:xfrm>
          <a:prstGeom prst="rect">
            <a:avLst/>
          </a:prstGeom>
          <a:noFill/>
        </p:spPr>
        <p:txBody>
          <a:bodyPr wrap="none">
            <a:spAutoFit/>
          </a:bodyPr>
          <a:lstStyle/>
          <a:p>
            <a:r>
              <a:rPr sz="2800" b="1">
                <a:solidFill>
                  <a:srgbClr val="192D4B"/>
                </a:solidFill>
              </a:rPr>
              <a:t>1. Abstract</a:t>
            </a:r>
          </a:p>
        </p:txBody>
      </p:sp>
      <p:sp>
        <p:nvSpPr>
          <p:cNvPr id="5" name="TextBox 4"/>
          <p:cNvSpPr txBox="1"/>
          <p:nvPr/>
        </p:nvSpPr>
        <p:spPr>
          <a:xfrm>
            <a:off x="658368" y="941832"/>
            <a:ext cx="10515600" cy="320040"/>
          </a:xfrm>
          <a:prstGeom prst="rect">
            <a:avLst/>
          </a:prstGeom>
          <a:noFill/>
        </p:spPr>
        <p:txBody>
          <a:bodyPr wrap="none">
            <a:spAutoFit/>
          </a:bodyPr>
          <a:lstStyle/>
          <a:p>
            <a:r>
              <a:rPr sz="1100">
                <a:solidFill>
                  <a:srgbClr val="697480"/>
                </a:solidFill>
              </a:rPr>
              <a:t>Project overview</a:t>
            </a:r>
          </a:p>
        </p:txBody>
      </p:sp>
      <p:sp>
        <p:nvSpPr>
          <p:cNvPr id="6" name="TextBox 5"/>
          <p:cNvSpPr txBox="1"/>
          <p:nvPr/>
        </p:nvSpPr>
        <p:spPr>
          <a:xfrm>
            <a:off x="822960" y="1417320"/>
            <a:ext cx="10424160" cy="4389120"/>
          </a:xfrm>
          <a:prstGeom prst="rect">
            <a:avLst/>
          </a:prstGeom>
          <a:noFill/>
        </p:spPr>
        <p:txBody>
          <a:bodyPr wrap="square">
            <a:spAutoFit/>
          </a:bodyPr>
          <a:lstStyle/>
          <a:p>
            <a:pPr>
              <a:spcAft>
                <a:spcPts val="1000"/>
              </a:spcAft>
            </a:pPr>
            <a:r>
              <a:rPr sz="1900">
                <a:solidFill>
                  <a:srgbClr val="232B34"/>
                </a:solidFill>
              </a:rPr>
              <a:t>The Résumé–Job Matching &amp; Talent Marketplace Engine is an intelligent recruitment platform that uses Data Structures and Algorithms to improve the hiring process. It indexes résumés and job postings, normalizes skill names, and compares candidate profiles with job requirements to calculate compatibility scores. Candidates are ranked and suitable jobs are recommended. The system also performs optimal candidate-to-role assignment and identifies the minimum set of skills and candidates required to form an effective project team. It uses String Algorithms, Dynamic Programming, Network Flow, Bipartite Matching, Approximation Algorithms, and Randomized Hashing for efficient matching, optimization, and scalable search.</a:t>
            </a:r>
          </a:p>
        </p:txBody>
      </p:sp>
      <p:sp>
        <p:nvSpPr>
          <p:cNvPr id="7" name="Rectangle 6"/>
          <p:cNvSpPr/>
          <p:nvPr/>
        </p:nvSpPr>
        <p:spPr>
          <a:xfrm>
            <a:off x="640080" y="6473952"/>
            <a:ext cx="1088136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881360" y="6510528"/>
            <a:ext cx="457200" cy="182880"/>
          </a:xfrm>
          <a:prstGeom prst="rect">
            <a:avLst/>
          </a:prstGeom>
          <a:noFill/>
        </p:spPr>
        <p:txBody>
          <a:bodyPr wrap="none">
            <a:spAutoFit/>
          </a:bodyPr>
          <a:lstStyle/>
          <a:p>
            <a:pPr algn="r"/>
            <a:r>
              <a:rPr sz="900">
                <a:solidFill>
                  <a:srgbClr val="697480"/>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r>
              <a:rPr sz="2700" b="1">
                <a:solidFill>
                  <a:srgbClr val="192D4B"/>
                </a:solidFill>
              </a:rPr>
              <a:t>2. Introduction</a:t>
            </a:r>
          </a:p>
        </p:txBody>
      </p:sp>
      <p:sp>
        <p:nvSpPr>
          <p:cNvPr id="5" name="TextBox 4"/>
          <p:cNvSpPr txBox="1"/>
          <p:nvPr/>
        </p:nvSpPr>
        <p:spPr>
          <a:xfrm>
            <a:off x="621792" y="941832"/>
            <a:ext cx="10789920" cy="320040"/>
          </a:xfrm>
          <a:prstGeom prst="rect">
            <a:avLst/>
          </a:prstGeom>
          <a:noFill/>
        </p:spPr>
        <p:txBody>
          <a:bodyPr wrap="none">
            <a:spAutoFit/>
          </a:bodyPr>
          <a:lstStyle/>
          <a:p>
            <a:r>
              <a:rPr sz="1100">
                <a:solidFill>
                  <a:srgbClr val="697480"/>
                </a:solidFill>
              </a:rPr>
              <a:t>Why an algorithm-driven talent marketplace is needed</a:t>
            </a:r>
          </a:p>
        </p:txBody>
      </p:sp>
      <p:sp>
        <p:nvSpPr>
          <p:cNvPr id="6" name="TextBox 5"/>
          <p:cNvSpPr txBox="1"/>
          <p:nvPr/>
        </p:nvSpPr>
        <p:spPr>
          <a:xfrm>
            <a:off x="822960" y="1417320"/>
            <a:ext cx="10424160" cy="4480560"/>
          </a:xfrm>
          <a:prstGeom prst="rect">
            <a:avLst/>
          </a:prstGeom>
          <a:noFill/>
        </p:spPr>
        <p:txBody>
          <a:bodyPr wrap="square" lIns="73152" rIns="73152">
            <a:spAutoFit/>
          </a:bodyPr>
          <a:lstStyle/>
          <a:p>
            <a:pPr>
              <a:lnSpc>
                <a:spcPct val="108000"/>
              </a:lnSpc>
              <a:spcAft>
                <a:spcPts val="1200"/>
              </a:spcAft>
              <a:defRPr sz="1800" b="0">
                <a:solidFill>
                  <a:srgbClr val="232B34"/>
                </a:solidFill>
              </a:defRPr>
            </a:pPr>
            <a:r>
              <a:t>Large volumes of résumés and job opportunities make manual screening inefficient.</a:t>
            </a:r>
          </a:p>
          <a:p>
            <a:pPr>
              <a:lnSpc>
                <a:spcPct val="108000"/>
              </a:lnSpc>
              <a:spcAft>
                <a:spcPts val="1200"/>
              </a:spcAft>
              <a:defRPr sz="1800" b="0">
                <a:solidFill>
                  <a:srgbClr val="232B34"/>
                </a:solidFill>
              </a:defRPr>
            </a:pPr>
            <a:r>
              <a:t>Candidate skills and job requirements may use inconsistent names or representations.</a:t>
            </a:r>
          </a:p>
          <a:p>
            <a:pPr>
              <a:lnSpc>
                <a:spcPct val="108000"/>
              </a:lnSpc>
              <a:spcAft>
                <a:spcPts val="1200"/>
              </a:spcAft>
              <a:defRPr sz="1800" b="0">
                <a:solidFill>
                  <a:srgbClr val="232B34"/>
                </a:solidFill>
              </a:defRPr>
            </a:pPr>
            <a:r>
              <a:t>The system automates skill extraction, normalization and candidate–job comparison.</a:t>
            </a:r>
          </a:p>
          <a:p>
            <a:pPr>
              <a:lnSpc>
                <a:spcPct val="108000"/>
              </a:lnSpc>
              <a:spcAft>
                <a:spcPts val="1200"/>
              </a:spcAft>
              <a:defRPr sz="1800" b="0">
                <a:solidFill>
                  <a:srgbClr val="232B34"/>
                </a:solidFill>
              </a:defRPr>
            </a:pPr>
            <a:r>
              <a:t>Compatibility scores provide a basis for ranking candidates and recommending jobs.</a:t>
            </a:r>
          </a:p>
          <a:p>
            <a:pPr>
              <a:lnSpc>
                <a:spcPct val="108000"/>
              </a:lnSpc>
              <a:spcAft>
                <a:spcPts val="1200"/>
              </a:spcAft>
              <a:defRPr sz="1800" b="0">
                <a:solidFill>
                  <a:srgbClr val="232B34"/>
                </a:solidFill>
              </a:defRPr>
            </a:pPr>
            <a:r>
              <a:t>Graph-based optimization helps assign the best candidates to available roles.</a:t>
            </a:r>
          </a:p>
          <a:p>
            <a:pPr>
              <a:lnSpc>
                <a:spcPct val="108000"/>
              </a:lnSpc>
              <a:spcAft>
                <a:spcPts val="1200"/>
              </a:spcAft>
              <a:defRPr sz="1800" b="0">
                <a:solidFill>
                  <a:srgbClr val="232B34"/>
                </a:solidFill>
              </a:defRPr>
            </a:pPr>
            <a:r>
              <a:t>Team formation extends matching from individual roles to project-level skill coverage.</a:t>
            </a:r>
          </a:p>
        </p:txBody>
      </p:sp>
      <p:sp>
        <p:nvSpPr>
          <p:cNvPr id="7" name="Rectangle 6"/>
          <p:cNvSpPr/>
          <p:nvPr/>
        </p:nvSpPr>
        <p:spPr>
          <a:xfrm>
            <a:off x="594360" y="6492240"/>
            <a:ext cx="1097280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881360" y="6519672"/>
            <a:ext cx="640080" cy="228600"/>
          </a:xfrm>
          <a:prstGeom prst="rect">
            <a:avLst/>
          </a:prstGeom>
          <a:noFill/>
        </p:spPr>
        <p:txBody>
          <a:bodyPr wrap="none">
            <a:spAutoFit/>
          </a:bodyPr>
          <a:lstStyle/>
          <a:p>
            <a:pPr algn="r"/>
            <a:r>
              <a:rPr sz="900">
                <a:solidFill>
                  <a:srgbClr val="697480"/>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r>
              <a:rPr sz="2700" b="1">
                <a:solidFill>
                  <a:srgbClr val="192D4B"/>
                </a:solidFill>
              </a:rPr>
              <a:t>3. Software &amp; Hardware Requirements</a:t>
            </a:r>
          </a:p>
        </p:txBody>
      </p:sp>
      <p:sp>
        <p:nvSpPr>
          <p:cNvPr id="5" name="TextBox 4"/>
          <p:cNvSpPr txBox="1"/>
          <p:nvPr/>
        </p:nvSpPr>
        <p:spPr>
          <a:xfrm>
            <a:off x="621792" y="941832"/>
            <a:ext cx="10789920" cy="320040"/>
          </a:xfrm>
          <a:prstGeom prst="rect">
            <a:avLst/>
          </a:prstGeom>
          <a:noFill/>
        </p:spPr>
        <p:txBody>
          <a:bodyPr wrap="none">
            <a:spAutoFit/>
          </a:bodyPr>
          <a:lstStyle/>
          <a:p>
            <a:r>
              <a:rPr sz="1100">
                <a:solidFill>
                  <a:srgbClr val="697480"/>
                </a:solidFill>
              </a:rPr>
              <a:t>Development and execution environment</a:t>
            </a:r>
          </a:p>
        </p:txBody>
      </p:sp>
      <p:sp>
        <p:nvSpPr>
          <p:cNvPr id="6" name="Rounded Rectangle 5"/>
          <p:cNvSpPr/>
          <p:nvPr/>
        </p:nvSpPr>
        <p:spPr>
          <a:xfrm>
            <a:off x="685800" y="1417320"/>
            <a:ext cx="5349240" cy="4480560"/>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82296" cy="448056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81912"/>
            <a:ext cx="4937759" cy="384048"/>
          </a:xfrm>
          <a:prstGeom prst="rect">
            <a:avLst/>
          </a:prstGeom>
          <a:noFill/>
        </p:spPr>
        <p:txBody>
          <a:bodyPr wrap="none">
            <a:spAutoFit/>
          </a:bodyPr>
          <a:lstStyle/>
          <a:p>
            <a:r>
              <a:rPr sz="1600" b="1">
                <a:solidFill>
                  <a:srgbClr val="192D4B"/>
                </a:solidFill>
              </a:rPr>
              <a:t>Software Requirements</a:t>
            </a:r>
          </a:p>
        </p:txBody>
      </p:sp>
      <p:sp>
        <p:nvSpPr>
          <p:cNvPr id="9" name="TextBox 8"/>
          <p:cNvSpPr txBox="1"/>
          <p:nvPr/>
        </p:nvSpPr>
        <p:spPr>
          <a:xfrm>
            <a:off x="914400" y="2039112"/>
            <a:ext cx="4937759" cy="3703320"/>
          </a:xfrm>
          <a:prstGeom prst="rect">
            <a:avLst/>
          </a:prstGeom>
          <a:noFill/>
        </p:spPr>
        <p:txBody>
          <a:bodyPr wrap="square">
            <a:spAutoFit/>
          </a:bodyPr>
          <a:lstStyle/>
          <a:p>
            <a:r>
              <a:rPr sz="1250">
                <a:solidFill>
                  <a:srgbClr val="232B34"/>
                </a:solidFill>
              </a:rPr>
              <a:t>• Programming: Java / Python
• Frontend: HTML, CSS, JavaScript / React
• Backend: Spring Boot / Flask
• Database: MySQL / MongoDB
• IDE: VS Code / IntelliJ / PyCharm
• Version control: Git / GitHub
• Browser: Chrome / Edge</a:t>
            </a:r>
          </a:p>
        </p:txBody>
      </p:sp>
      <p:sp>
        <p:nvSpPr>
          <p:cNvPr id="10" name="Rounded Rectangle 9"/>
          <p:cNvSpPr/>
          <p:nvPr/>
        </p:nvSpPr>
        <p:spPr>
          <a:xfrm>
            <a:off x="6172200" y="1417320"/>
            <a:ext cx="5349240" cy="4480560"/>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1417320"/>
            <a:ext cx="82296" cy="4480560"/>
          </a:xfrm>
          <a:prstGeom prst="rect">
            <a:avLst/>
          </a:prstGeom>
          <a:solidFill>
            <a:srgbClr val="3CA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81912"/>
            <a:ext cx="4937759" cy="384048"/>
          </a:xfrm>
          <a:prstGeom prst="rect">
            <a:avLst/>
          </a:prstGeom>
          <a:noFill/>
        </p:spPr>
        <p:txBody>
          <a:bodyPr wrap="none">
            <a:spAutoFit/>
          </a:bodyPr>
          <a:lstStyle/>
          <a:p>
            <a:r>
              <a:rPr sz="1600" b="1">
                <a:solidFill>
                  <a:srgbClr val="192D4B"/>
                </a:solidFill>
              </a:rPr>
              <a:t>Hardware Requirements</a:t>
            </a:r>
          </a:p>
        </p:txBody>
      </p:sp>
      <p:sp>
        <p:nvSpPr>
          <p:cNvPr id="13" name="TextBox 12"/>
          <p:cNvSpPr txBox="1"/>
          <p:nvPr/>
        </p:nvSpPr>
        <p:spPr>
          <a:xfrm>
            <a:off x="6400800" y="2039112"/>
            <a:ext cx="4937759" cy="3703320"/>
          </a:xfrm>
          <a:prstGeom prst="rect">
            <a:avLst/>
          </a:prstGeom>
          <a:noFill/>
        </p:spPr>
        <p:txBody>
          <a:bodyPr wrap="square">
            <a:spAutoFit/>
          </a:bodyPr>
          <a:lstStyle/>
          <a:p>
            <a:r>
              <a:rPr sz="1250">
                <a:solidFill>
                  <a:srgbClr val="232B34"/>
                </a:solidFill>
              </a:rPr>
              <a:t>• Processor: Intel Core i3 or above
• RAM: Minimum 4 GB; 8 GB recommended
• Storage: Minimum 10 GB free space
• Internet connection for online services/deployment
• Standard display, keyboard and mouse</a:t>
            </a:r>
          </a:p>
        </p:txBody>
      </p:sp>
      <p:sp>
        <p:nvSpPr>
          <p:cNvPr id="14" name="Rectangle 13"/>
          <p:cNvSpPr/>
          <p:nvPr/>
        </p:nvSpPr>
        <p:spPr>
          <a:xfrm>
            <a:off x="594360" y="6492240"/>
            <a:ext cx="1097280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881360" y="6519672"/>
            <a:ext cx="640080" cy="228600"/>
          </a:xfrm>
          <a:prstGeom prst="rect">
            <a:avLst/>
          </a:prstGeom>
          <a:noFill/>
        </p:spPr>
        <p:txBody>
          <a:bodyPr wrap="none">
            <a:spAutoFit/>
          </a:bodyPr>
          <a:lstStyle/>
          <a:p>
            <a:pPr algn="r"/>
            <a:r>
              <a:rPr sz="900">
                <a:solidFill>
                  <a:srgbClr val="697480"/>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94360"/>
          </a:xfrm>
          <a:prstGeom prst="rect">
            <a:avLst/>
          </a:prstGeom>
          <a:noFill/>
        </p:spPr>
        <p:txBody>
          <a:bodyPr wrap="none">
            <a:spAutoFit/>
          </a:bodyPr>
          <a:lstStyle/>
          <a:p>
            <a:r>
              <a:rPr sz="2700" b="1">
                <a:solidFill>
                  <a:srgbClr val="192D4B"/>
                </a:solidFill>
              </a:rPr>
              <a:t>4. Literature Survey</a:t>
            </a:r>
          </a:p>
        </p:txBody>
      </p:sp>
      <p:sp>
        <p:nvSpPr>
          <p:cNvPr id="5" name="TextBox 4"/>
          <p:cNvSpPr txBox="1"/>
          <p:nvPr/>
        </p:nvSpPr>
        <p:spPr>
          <a:xfrm>
            <a:off x="621792" y="941832"/>
            <a:ext cx="10789920" cy="320040"/>
          </a:xfrm>
          <a:prstGeom prst="rect">
            <a:avLst/>
          </a:prstGeom>
          <a:noFill/>
        </p:spPr>
        <p:txBody>
          <a:bodyPr wrap="none">
            <a:spAutoFit/>
          </a:bodyPr>
          <a:lstStyle/>
          <a:p>
            <a:r>
              <a:rPr sz="1100">
                <a:solidFill>
                  <a:srgbClr val="697480"/>
                </a:solidFill>
              </a:rPr>
              <a:t>From basic keyword search to algorithmic matching</a:t>
            </a:r>
          </a:p>
        </p:txBody>
      </p:sp>
      <p:sp>
        <p:nvSpPr>
          <p:cNvPr id="6" name="Rounded Rectangle 5"/>
          <p:cNvSpPr/>
          <p:nvPr/>
        </p:nvSpPr>
        <p:spPr>
          <a:xfrm>
            <a:off x="640080" y="1417320"/>
            <a:ext cx="3474720" cy="4480560"/>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417320"/>
            <a:ext cx="82296" cy="448056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81912"/>
            <a:ext cx="3063239" cy="384048"/>
          </a:xfrm>
          <a:prstGeom prst="rect">
            <a:avLst/>
          </a:prstGeom>
          <a:noFill/>
        </p:spPr>
        <p:txBody>
          <a:bodyPr wrap="none">
            <a:spAutoFit/>
          </a:bodyPr>
          <a:lstStyle/>
          <a:p>
            <a:r>
              <a:rPr sz="1600" b="1">
                <a:solidFill>
                  <a:srgbClr val="192D4B"/>
                </a:solidFill>
              </a:rPr>
              <a:t>Traditional systems</a:t>
            </a:r>
          </a:p>
        </p:txBody>
      </p:sp>
      <p:sp>
        <p:nvSpPr>
          <p:cNvPr id="9" name="TextBox 8"/>
          <p:cNvSpPr txBox="1"/>
          <p:nvPr/>
        </p:nvSpPr>
        <p:spPr>
          <a:xfrm>
            <a:off x="868680" y="2039112"/>
            <a:ext cx="3063239" cy="3703320"/>
          </a:xfrm>
          <a:prstGeom prst="rect">
            <a:avLst/>
          </a:prstGeom>
          <a:noFill/>
        </p:spPr>
        <p:txBody>
          <a:bodyPr wrap="square">
            <a:spAutoFit/>
          </a:bodyPr>
          <a:lstStyle/>
          <a:p>
            <a:r>
              <a:rPr sz="1250">
                <a:solidFill>
                  <a:srgbClr val="232B34"/>
                </a:solidFill>
              </a:rPr>
              <a:t>• Manual résumé screening
• Basic keyword search
• Time-consuming for large applicant pools
• Limited optimization of assignments</a:t>
            </a:r>
          </a:p>
        </p:txBody>
      </p:sp>
      <p:sp>
        <p:nvSpPr>
          <p:cNvPr id="10" name="Rounded Rectangle 9"/>
          <p:cNvSpPr/>
          <p:nvPr/>
        </p:nvSpPr>
        <p:spPr>
          <a:xfrm>
            <a:off x="4343400" y="1417320"/>
            <a:ext cx="3474720" cy="4480560"/>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417320"/>
            <a:ext cx="82296" cy="4480560"/>
          </a:xfrm>
          <a:prstGeom prst="rect">
            <a:avLst/>
          </a:prstGeom>
          <a:solidFill>
            <a:srgbClr val="3CA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581912"/>
            <a:ext cx="3063239" cy="384048"/>
          </a:xfrm>
          <a:prstGeom prst="rect">
            <a:avLst/>
          </a:prstGeom>
          <a:noFill/>
        </p:spPr>
        <p:txBody>
          <a:bodyPr wrap="none">
            <a:spAutoFit/>
          </a:bodyPr>
          <a:lstStyle/>
          <a:p>
            <a:r>
              <a:rPr sz="1600" b="1">
                <a:solidFill>
                  <a:srgbClr val="192D4B"/>
                </a:solidFill>
              </a:rPr>
              <a:t>Algorithmic approaches</a:t>
            </a:r>
          </a:p>
        </p:txBody>
      </p:sp>
      <p:sp>
        <p:nvSpPr>
          <p:cNvPr id="13" name="TextBox 12"/>
          <p:cNvSpPr txBox="1"/>
          <p:nvPr/>
        </p:nvSpPr>
        <p:spPr>
          <a:xfrm>
            <a:off x="4572000" y="2039112"/>
            <a:ext cx="3063239" cy="3703320"/>
          </a:xfrm>
          <a:prstGeom prst="rect">
            <a:avLst/>
          </a:prstGeom>
          <a:noFill/>
        </p:spPr>
        <p:txBody>
          <a:bodyPr wrap="square">
            <a:spAutoFit/>
          </a:bodyPr>
          <a:lstStyle/>
          <a:p>
            <a:r>
              <a:rPr sz="1250">
                <a:solidFill>
                  <a:srgbClr val="232B34"/>
                </a:solidFill>
              </a:rPr>
              <a:t>• String processing for skill extraction
• Hashing for indexing and fast search
• Similarity computation for matching
• Graph algorithms for assignment</a:t>
            </a:r>
          </a:p>
        </p:txBody>
      </p:sp>
      <p:sp>
        <p:nvSpPr>
          <p:cNvPr id="14" name="Rounded Rectangle 13"/>
          <p:cNvSpPr/>
          <p:nvPr/>
        </p:nvSpPr>
        <p:spPr>
          <a:xfrm>
            <a:off x="8046720" y="1417320"/>
            <a:ext cx="3474720" cy="4480560"/>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417320"/>
            <a:ext cx="82296" cy="448056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1581912"/>
            <a:ext cx="3063239" cy="384048"/>
          </a:xfrm>
          <a:prstGeom prst="rect">
            <a:avLst/>
          </a:prstGeom>
          <a:noFill/>
        </p:spPr>
        <p:txBody>
          <a:bodyPr wrap="none">
            <a:spAutoFit/>
          </a:bodyPr>
          <a:lstStyle/>
          <a:p>
            <a:r>
              <a:rPr sz="1600" b="1">
                <a:solidFill>
                  <a:srgbClr val="192D4B"/>
                </a:solidFill>
              </a:rPr>
              <a:t>Proposed direction</a:t>
            </a:r>
          </a:p>
        </p:txBody>
      </p:sp>
      <p:sp>
        <p:nvSpPr>
          <p:cNvPr id="17" name="TextBox 16"/>
          <p:cNvSpPr txBox="1"/>
          <p:nvPr/>
        </p:nvSpPr>
        <p:spPr>
          <a:xfrm>
            <a:off x="8275320" y="2039112"/>
            <a:ext cx="3063239" cy="3703320"/>
          </a:xfrm>
          <a:prstGeom prst="rect">
            <a:avLst/>
          </a:prstGeom>
          <a:noFill/>
        </p:spPr>
        <p:txBody>
          <a:bodyPr wrap="square">
            <a:spAutoFit/>
          </a:bodyPr>
          <a:lstStyle/>
          <a:p>
            <a:r>
              <a:rPr sz="1250">
                <a:solidFill>
                  <a:srgbClr val="232B34"/>
                </a:solidFill>
              </a:rPr>
              <a:t>• Normalize skills before comparison
• Score and rank candidates
• Recommend jobs
• Optimize role assignment
• Build effective project teams</a:t>
            </a:r>
          </a:p>
        </p:txBody>
      </p:sp>
      <p:sp>
        <p:nvSpPr>
          <p:cNvPr id="18" name="Rectangle 17"/>
          <p:cNvSpPr/>
          <p:nvPr/>
        </p:nvSpPr>
        <p:spPr>
          <a:xfrm>
            <a:off x="594360" y="6492240"/>
            <a:ext cx="1097280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81360" y="6519672"/>
            <a:ext cx="640080" cy="228600"/>
          </a:xfrm>
          <a:prstGeom prst="rect">
            <a:avLst/>
          </a:prstGeom>
          <a:noFill/>
        </p:spPr>
        <p:txBody>
          <a:bodyPr wrap="none">
            <a:spAutoFit/>
          </a:bodyPr>
          <a:lstStyle/>
          <a:p>
            <a:pPr algn="r"/>
            <a:r>
              <a:rPr sz="900">
                <a:solidFill>
                  <a:srgbClr val="697480"/>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789920" cy="502920"/>
          </a:xfrm>
          <a:prstGeom prst="rect">
            <a:avLst/>
          </a:prstGeom>
          <a:noFill/>
        </p:spPr>
        <p:txBody>
          <a:bodyPr wrap="none">
            <a:spAutoFit/>
          </a:bodyPr>
          <a:lstStyle/>
          <a:p>
            <a:r>
              <a:rPr sz="2700" b="1">
                <a:solidFill>
                  <a:srgbClr val="192D4B"/>
                </a:solidFill>
              </a:rPr>
              <a:t>5. Methodology – Algorithm Pipeline</a:t>
            </a:r>
          </a:p>
        </p:txBody>
      </p:sp>
      <p:sp>
        <p:nvSpPr>
          <p:cNvPr id="5" name="TextBox 4"/>
          <p:cNvSpPr txBox="1"/>
          <p:nvPr/>
        </p:nvSpPr>
        <p:spPr>
          <a:xfrm>
            <a:off x="658368" y="932688"/>
            <a:ext cx="10515600" cy="320040"/>
          </a:xfrm>
          <a:prstGeom prst="rect">
            <a:avLst/>
          </a:prstGeom>
          <a:noFill/>
        </p:spPr>
        <p:txBody>
          <a:bodyPr wrap="none">
            <a:spAutoFit/>
          </a:bodyPr>
          <a:lstStyle/>
          <a:p>
            <a:r>
              <a:rPr sz="1100">
                <a:solidFill>
                  <a:srgbClr val="697480"/>
                </a:solidFill>
              </a:rPr>
              <a:t>Map each recruitment task to an advanced algorithm</a:t>
            </a:r>
          </a:p>
        </p:txBody>
      </p:sp>
      <p:sp>
        <p:nvSpPr>
          <p:cNvPr id="6" name="Oval 5"/>
          <p:cNvSpPr/>
          <p:nvPr/>
        </p:nvSpPr>
        <p:spPr>
          <a:xfrm>
            <a:off x="222825" y="1431487"/>
            <a:ext cx="548640" cy="548640"/>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7" name="TextBox 6"/>
          <p:cNvSpPr txBox="1"/>
          <p:nvPr/>
        </p:nvSpPr>
        <p:spPr>
          <a:xfrm>
            <a:off x="1252728" y="1399032"/>
            <a:ext cx="1917833" cy="646331"/>
          </a:xfrm>
          <a:prstGeom prst="rect">
            <a:avLst/>
          </a:prstGeom>
          <a:noFill/>
        </p:spPr>
        <p:txBody>
          <a:bodyPr wrap="none">
            <a:spAutoFit/>
          </a:bodyPr>
          <a:lstStyle/>
          <a:p>
            <a:r>
              <a:rPr b="1" dirty="0">
                <a:solidFill>
                  <a:srgbClr val="192D4B"/>
                </a:solidFill>
              </a:rPr>
              <a:t>Résumé / Job Text</a:t>
            </a:r>
          </a:p>
          <a:p>
            <a:r>
              <a:rPr dirty="0">
                <a:solidFill>
                  <a:srgbClr val="697480"/>
                </a:solidFill>
              </a:rPr>
              <a:t>Input documents</a:t>
            </a:r>
          </a:p>
        </p:txBody>
      </p:sp>
      <p:sp>
        <p:nvSpPr>
          <p:cNvPr id="8" name="Oval 7"/>
          <p:cNvSpPr/>
          <p:nvPr/>
        </p:nvSpPr>
        <p:spPr>
          <a:xfrm>
            <a:off x="3474720" y="1417320"/>
            <a:ext cx="548640" cy="548640"/>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9" name="TextBox 8"/>
          <p:cNvSpPr txBox="1"/>
          <p:nvPr/>
        </p:nvSpPr>
        <p:spPr>
          <a:xfrm>
            <a:off x="4133087" y="1399032"/>
            <a:ext cx="1685077" cy="830997"/>
          </a:xfrm>
          <a:prstGeom prst="rect">
            <a:avLst/>
          </a:prstGeom>
          <a:noFill/>
        </p:spPr>
        <p:txBody>
          <a:bodyPr wrap="none">
            <a:spAutoFit/>
          </a:bodyPr>
          <a:lstStyle/>
          <a:p>
            <a:r>
              <a:rPr sz="1600" b="1" dirty="0">
                <a:solidFill>
                  <a:srgbClr val="192D4B"/>
                </a:solidFill>
              </a:rPr>
              <a:t>KMP + Z-Function</a:t>
            </a:r>
          </a:p>
          <a:p>
            <a:r>
              <a:rPr sz="1600" dirty="0">
                <a:solidFill>
                  <a:srgbClr val="697480"/>
                </a:solidFill>
              </a:rPr>
              <a:t>Fast exact skill / </a:t>
            </a:r>
            <a:endParaRPr lang="en-US" sz="1600" dirty="0">
              <a:solidFill>
                <a:srgbClr val="697480"/>
              </a:solidFill>
            </a:endParaRPr>
          </a:p>
          <a:p>
            <a:r>
              <a:rPr sz="1600" dirty="0">
                <a:solidFill>
                  <a:srgbClr val="697480"/>
                </a:solidFill>
              </a:rPr>
              <a:t>phrase matching</a:t>
            </a:r>
          </a:p>
        </p:txBody>
      </p:sp>
      <p:sp>
        <p:nvSpPr>
          <p:cNvPr id="10" name="Oval 9"/>
          <p:cNvSpPr/>
          <p:nvPr/>
        </p:nvSpPr>
        <p:spPr>
          <a:xfrm>
            <a:off x="6281927" y="1399032"/>
            <a:ext cx="548640" cy="548640"/>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rPr>
              <a:t>3</a:t>
            </a:r>
          </a:p>
        </p:txBody>
      </p:sp>
      <p:sp>
        <p:nvSpPr>
          <p:cNvPr id="11" name="TextBox 10"/>
          <p:cNvSpPr txBox="1"/>
          <p:nvPr/>
        </p:nvSpPr>
        <p:spPr>
          <a:xfrm>
            <a:off x="7013448" y="1399032"/>
            <a:ext cx="2363724" cy="830997"/>
          </a:xfrm>
          <a:prstGeom prst="rect">
            <a:avLst/>
          </a:prstGeom>
          <a:noFill/>
        </p:spPr>
        <p:txBody>
          <a:bodyPr wrap="none">
            <a:spAutoFit/>
          </a:bodyPr>
          <a:lstStyle/>
          <a:p>
            <a:r>
              <a:rPr sz="1600" b="1" dirty="0">
                <a:solidFill>
                  <a:srgbClr val="192D4B"/>
                </a:solidFill>
              </a:rPr>
              <a:t>Rabin–Karp</a:t>
            </a:r>
          </a:p>
          <a:p>
            <a:r>
              <a:rPr sz="1600" dirty="0">
                <a:solidFill>
                  <a:srgbClr val="697480"/>
                </a:solidFill>
              </a:rPr>
              <a:t>Hash-based candidate/job</a:t>
            </a:r>
            <a:endParaRPr lang="en-US" sz="1600" dirty="0">
              <a:solidFill>
                <a:srgbClr val="697480"/>
              </a:solidFill>
            </a:endParaRPr>
          </a:p>
          <a:p>
            <a:r>
              <a:rPr sz="1600" dirty="0">
                <a:solidFill>
                  <a:srgbClr val="697480"/>
                </a:solidFill>
              </a:rPr>
              <a:t> keyword search</a:t>
            </a:r>
          </a:p>
        </p:txBody>
      </p:sp>
      <p:sp>
        <p:nvSpPr>
          <p:cNvPr id="12" name="Oval 11"/>
          <p:cNvSpPr/>
          <p:nvPr/>
        </p:nvSpPr>
        <p:spPr>
          <a:xfrm>
            <a:off x="9425796" y="1417320"/>
            <a:ext cx="534838" cy="548640"/>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rPr>
              <a:t>4</a:t>
            </a:r>
          </a:p>
        </p:txBody>
      </p:sp>
      <p:sp>
        <p:nvSpPr>
          <p:cNvPr id="13" name="TextBox 12"/>
          <p:cNvSpPr txBox="1"/>
          <p:nvPr/>
        </p:nvSpPr>
        <p:spPr>
          <a:xfrm>
            <a:off x="10225736" y="1417320"/>
            <a:ext cx="1851245" cy="830997"/>
          </a:xfrm>
          <a:prstGeom prst="rect">
            <a:avLst/>
          </a:prstGeom>
          <a:noFill/>
        </p:spPr>
        <p:txBody>
          <a:bodyPr wrap="square">
            <a:spAutoFit/>
          </a:bodyPr>
          <a:lstStyle/>
          <a:p>
            <a:r>
              <a:rPr sz="1600" b="1" dirty="0">
                <a:solidFill>
                  <a:srgbClr val="192D4B"/>
                </a:solidFill>
              </a:rPr>
              <a:t>Edit Distance DP</a:t>
            </a:r>
          </a:p>
          <a:p>
            <a:r>
              <a:rPr sz="1600" dirty="0">
                <a:solidFill>
                  <a:srgbClr val="697480"/>
                </a:solidFill>
              </a:rPr>
              <a:t>Fuzzy skill-name similarity</a:t>
            </a:r>
          </a:p>
        </p:txBody>
      </p:sp>
      <p:sp>
        <p:nvSpPr>
          <p:cNvPr id="14" name="Oval 13"/>
          <p:cNvSpPr/>
          <p:nvPr/>
        </p:nvSpPr>
        <p:spPr>
          <a:xfrm>
            <a:off x="246886" y="3557016"/>
            <a:ext cx="548640" cy="548640"/>
          </a:xfrm>
          <a:prstGeom prst="ellipse">
            <a:avLst/>
          </a:prstGeom>
          <a:solidFill>
            <a:srgbClr val="3CA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5</a:t>
            </a:r>
          </a:p>
        </p:txBody>
      </p:sp>
      <p:sp>
        <p:nvSpPr>
          <p:cNvPr id="15" name="TextBox 14"/>
          <p:cNvSpPr txBox="1"/>
          <p:nvPr/>
        </p:nvSpPr>
        <p:spPr>
          <a:xfrm>
            <a:off x="1115567" y="3547871"/>
            <a:ext cx="2039111" cy="1077218"/>
          </a:xfrm>
          <a:prstGeom prst="rect">
            <a:avLst/>
          </a:prstGeom>
          <a:noFill/>
        </p:spPr>
        <p:txBody>
          <a:bodyPr wrap="square">
            <a:spAutoFit/>
          </a:bodyPr>
          <a:lstStyle/>
          <a:p>
            <a:r>
              <a:rPr sz="1600" b="1" dirty="0">
                <a:solidFill>
                  <a:srgbClr val="192D4B"/>
                </a:solidFill>
                <a:latin typeface="Times New Roman" panose="02020603050405020304" pitchFamily="18" charset="0"/>
                <a:cs typeface="Times New Roman" panose="02020603050405020304" pitchFamily="18" charset="0"/>
              </a:rPr>
              <a:t>Suffix Array + LCP</a:t>
            </a:r>
          </a:p>
          <a:p>
            <a:r>
              <a:rPr sz="1600" dirty="0">
                <a:solidFill>
                  <a:srgbClr val="697480"/>
                </a:solidFill>
                <a:latin typeface="Times New Roman" panose="02020603050405020304" pitchFamily="18" charset="0"/>
                <a:cs typeface="Times New Roman" panose="02020603050405020304" pitchFamily="18" charset="0"/>
              </a:rPr>
              <a:t>Efficient repeated similarity / prefix queries</a:t>
            </a:r>
          </a:p>
        </p:txBody>
      </p:sp>
      <p:sp>
        <p:nvSpPr>
          <p:cNvPr id="16" name="Oval 15"/>
          <p:cNvSpPr/>
          <p:nvPr/>
        </p:nvSpPr>
        <p:spPr>
          <a:xfrm>
            <a:off x="3474720" y="3566160"/>
            <a:ext cx="548640" cy="548640"/>
          </a:xfrm>
          <a:prstGeom prst="ellipse">
            <a:avLst/>
          </a:prstGeom>
          <a:solidFill>
            <a:srgbClr val="3CA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6</a:t>
            </a:r>
          </a:p>
        </p:txBody>
      </p:sp>
      <p:sp>
        <p:nvSpPr>
          <p:cNvPr id="17" name="TextBox 16"/>
          <p:cNvSpPr txBox="1"/>
          <p:nvPr/>
        </p:nvSpPr>
        <p:spPr>
          <a:xfrm>
            <a:off x="4133088" y="3547872"/>
            <a:ext cx="2039112" cy="1077218"/>
          </a:xfrm>
          <a:prstGeom prst="rect">
            <a:avLst/>
          </a:prstGeom>
          <a:noFill/>
        </p:spPr>
        <p:txBody>
          <a:bodyPr wrap="square">
            <a:spAutoFit/>
          </a:bodyPr>
          <a:lstStyle/>
          <a:p>
            <a:r>
              <a:rPr sz="1600" b="1" dirty="0">
                <a:solidFill>
                  <a:srgbClr val="192D4B"/>
                </a:solidFill>
                <a:latin typeface="Times New Roman" panose="02020603050405020304" pitchFamily="18" charset="0"/>
                <a:cs typeface="Times New Roman" panose="02020603050405020304" pitchFamily="18" charset="0"/>
              </a:rPr>
              <a:t>Bipartite Matching + Max-Flow</a:t>
            </a:r>
          </a:p>
          <a:p>
            <a:r>
              <a:rPr sz="1600" dirty="0">
                <a:solidFill>
                  <a:srgbClr val="697480"/>
                </a:solidFill>
                <a:latin typeface="Times New Roman" panose="02020603050405020304" pitchFamily="18" charset="0"/>
                <a:cs typeface="Times New Roman" panose="02020603050405020304" pitchFamily="18" charset="0"/>
              </a:rPr>
              <a:t>Optimal candidate-to-role assignment</a:t>
            </a:r>
          </a:p>
        </p:txBody>
      </p:sp>
      <p:sp>
        <p:nvSpPr>
          <p:cNvPr id="18" name="Oval 17"/>
          <p:cNvSpPr/>
          <p:nvPr/>
        </p:nvSpPr>
        <p:spPr>
          <a:xfrm>
            <a:off x="6464808" y="3566160"/>
            <a:ext cx="548640" cy="548640"/>
          </a:xfrm>
          <a:prstGeom prst="ellipse">
            <a:avLst/>
          </a:prstGeom>
          <a:solidFill>
            <a:srgbClr val="3CA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FFFFFF"/>
                </a:solidFill>
              </a:rPr>
              <a:t>7</a:t>
            </a:r>
          </a:p>
        </p:txBody>
      </p:sp>
      <p:sp>
        <p:nvSpPr>
          <p:cNvPr id="19" name="TextBox 18"/>
          <p:cNvSpPr txBox="1"/>
          <p:nvPr/>
        </p:nvSpPr>
        <p:spPr>
          <a:xfrm>
            <a:off x="7150610" y="3547872"/>
            <a:ext cx="3075126" cy="830997"/>
          </a:xfrm>
          <a:prstGeom prst="rect">
            <a:avLst/>
          </a:prstGeom>
          <a:noFill/>
        </p:spPr>
        <p:txBody>
          <a:bodyPr wrap="square">
            <a:spAutoFit/>
          </a:bodyPr>
          <a:lstStyle/>
          <a:p>
            <a:r>
              <a:rPr sz="1600" b="1" dirty="0">
                <a:solidFill>
                  <a:srgbClr val="192D4B"/>
                </a:solidFill>
                <a:latin typeface="Times New Roman" panose="02020603050405020304" pitchFamily="18" charset="0"/>
                <a:cs typeface="Times New Roman" panose="02020603050405020304" pitchFamily="18" charset="0"/>
              </a:rPr>
              <a:t>Greedy Set Cover Approx.</a:t>
            </a:r>
          </a:p>
          <a:p>
            <a:r>
              <a:rPr sz="1600" dirty="0">
                <a:solidFill>
                  <a:srgbClr val="697480"/>
                </a:solidFill>
                <a:latin typeface="Times New Roman" panose="02020603050405020304" pitchFamily="18" charset="0"/>
                <a:cs typeface="Times New Roman" panose="02020603050405020304" pitchFamily="18" charset="0"/>
              </a:rPr>
              <a:t>Minimum / near-minimum team skill coverage</a:t>
            </a:r>
          </a:p>
        </p:txBody>
      </p:sp>
      <p:sp>
        <p:nvSpPr>
          <p:cNvPr id="20" name="Rectangle 19"/>
          <p:cNvSpPr/>
          <p:nvPr/>
        </p:nvSpPr>
        <p:spPr>
          <a:xfrm>
            <a:off x="640080" y="6473952"/>
            <a:ext cx="1088136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881360" y="6510528"/>
            <a:ext cx="457200" cy="182880"/>
          </a:xfrm>
          <a:prstGeom prst="rect">
            <a:avLst/>
          </a:prstGeom>
          <a:noFill/>
        </p:spPr>
        <p:txBody>
          <a:bodyPr wrap="none">
            <a:spAutoFit/>
          </a:bodyPr>
          <a:lstStyle/>
          <a:p>
            <a:pPr algn="r"/>
            <a:r>
              <a:rPr sz="900">
                <a:solidFill>
                  <a:srgbClr val="697480"/>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789920" cy="502920"/>
          </a:xfrm>
          <a:prstGeom prst="rect">
            <a:avLst/>
          </a:prstGeom>
          <a:noFill/>
        </p:spPr>
        <p:txBody>
          <a:bodyPr wrap="none">
            <a:spAutoFit/>
          </a:bodyPr>
          <a:lstStyle/>
          <a:p>
            <a:r>
              <a:rPr sz="2700" b="1">
                <a:solidFill>
                  <a:srgbClr val="192D4B"/>
                </a:solidFill>
              </a:rPr>
              <a:t>6. Methodology – Algorithms Used</a:t>
            </a:r>
          </a:p>
        </p:txBody>
      </p:sp>
      <p:sp>
        <p:nvSpPr>
          <p:cNvPr id="5" name="TextBox 4"/>
          <p:cNvSpPr txBox="1"/>
          <p:nvPr/>
        </p:nvSpPr>
        <p:spPr>
          <a:xfrm>
            <a:off x="658368" y="932688"/>
            <a:ext cx="10515600" cy="320040"/>
          </a:xfrm>
          <a:prstGeom prst="rect">
            <a:avLst/>
          </a:prstGeom>
          <a:noFill/>
        </p:spPr>
        <p:txBody>
          <a:bodyPr wrap="none">
            <a:spAutoFit/>
          </a:bodyPr>
          <a:lstStyle/>
          <a:p>
            <a:r>
              <a:rPr sz="1100">
                <a:solidFill>
                  <a:srgbClr val="697480"/>
                </a:solidFill>
              </a:rPr>
              <a:t>Concrete algorithms from the Advanced-Algorithm question bank</a:t>
            </a:r>
          </a:p>
        </p:txBody>
      </p:sp>
      <p:sp>
        <p:nvSpPr>
          <p:cNvPr id="6" name="Rounded Rectangle 5"/>
          <p:cNvSpPr/>
          <p:nvPr/>
        </p:nvSpPr>
        <p:spPr>
          <a:xfrm>
            <a:off x="640080" y="1234440"/>
            <a:ext cx="274320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20" b="1">
                <a:solidFill>
                  <a:srgbClr val="192D4B"/>
                </a:solidFill>
              </a:rPr>
              <a:t>KMP / Z-Function</a:t>
            </a:r>
          </a:p>
        </p:txBody>
      </p:sp>
      <p:sp>
        <p:nvSpPr>
          <p:cNvPr id="7" name="Rounded Rectangle 6"/>
          <p:cNvSpPr/>
          <p:nvPr/>
        </p:nvSpPr>
        <p:spPr>
          <a:xfrm>
            <a:off x="3520440" y="1234440"/>
            <a:ext cx="219456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50" b="1">
                <a:solidFill>
                  <a:srgbClr val="192D4B"/>
                </a:solidFill>
              </a:rPr>
              <a:t>Exact pattern search</a:t>
            </a:r>
          </a:p>
        </p:txBody>
      </p:sp>
      <p:sp>
        <p:nvSpPr>
          <p:cNvPr id="8" name="Rounded Rectangle 7"/>
          <p:cNvSpPr/>
          <p:nvPr/>
        </p:nvSpPr>
        <p:spPr>
          <a:xfrm>
            <a:off x="5852160" y="1234440"/>
            <a:ext cx="5486400" cy="621792"/>
          </a:xfrm>
          <a:prstGeom prst="roundRect">
            <a:avLst/>
          </a:prstGeom>
          <a:solidFill>
            <a:srgbClr val="FFFFFF"/>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600" b="0" dirty="0">
                <a:solidFill>
                  <a:srgbClr val="232B34"/>
                </a:solidFill>
              </a:rPr>
              <a:t>Find skills such as “Python”, “SQL”, “C++” in résumé/job text efficiently.</a:t>
            </a:r>
          </a:p>
        </p:txBody>
      </p:sp>
      <p:sp>
        <p:nvSpPr>
          <p:cNvPr id="9" name="Rounded Rectangle 8"/>
          <p:cNvSpPr/>
          <p:nvPr/>
        </p:nvSpPr>
        <p:spPr>
          <a:xfrm>
            <a:off x="640080" y="2057400"/>
            <a:ext cx="274320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20" b="1">
                <a:solidFill>
                  <a:srgbClr val="192D4B"/>
                </a:solidFill>
              </a:rPr>
              <a:t>Rabin–Karp</a:t>
            </a:r>
          </a:p>
        </p:txBody>
      </p:sp>
      <p:sp>
        <p:nvSpPr>
          <p:cNvPr id="10" name="Rounded Rectangle 9"/>
          <p:cNvSpPr/>
          <p:nvPr/>
        </p:nvSpPr>
        <p:spPr>
          <a:xfrm>
            <a:off x="3520440" y="2057400"/>
            <a:ext cx="219456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50" b="1">
                <a:solidFill>
                  <a:srgbClr val="192D4B"/>
                </a:solidFill>
              </a:rPr>
              <a:t>Hash-based search</a:t>
            </a:r>
          </a:p>
        </p:txBody>
      </p:sp>
      <p:sp>
        <p:nvSpPr>
          <p:cNvPr id="11" name="Rounded Rectangle 10"/>
          <p:cNvSpPr/>
          <p:nvPr/>
        </p:nvSpPr>
        <p:spPr>
          <a:xfrm>
            <a:off x="5852160" y="2057400"/>
            <a:ext cx="5486400" cy="621792"/>
          </a:xfrm>
          <a:prstGeom prst="roundRect">
            <a:avLst/>
          </a:prstGeom>
          <a:solidFill>
            <a:srgbClr val="FFFFFF"/>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600" b="0" dirty="0">
                <a:solidFill>
                  <a:srgbClr val="232B34"/>
                </a:solidFill>
              </a:rPr>
              <a:t>Search many skill phrases using rolling hashes; double hashing reduces collision risk.</a:t>
            </a:r>
          </a:p>
        </p:txBody>
      </p:sp>
      <p:sp>
        <p:nvSpPr>
          <p:cNvPr id="12" name="Rounded Rectangle 11"/>
          <p:cNvSpPr/>
          <p:nvPr/>
        </p:nvSpPr>
        <p:spPr>
          <a:xfrm>
            <a:off x="640080" y="2880360"/>
            <a:ext cx="274320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20" b="1">
                <a:solidFill>
                  <a:srgbClr val="192D4B"/>
                </a:solidFill>
              </a:rPr>
              <a:t>Levenshtein / Damerau DP</a:t>
            </a:r>
          </a:p>
        </p:txBody>
      </p:sp>
      <p:sp>
        <p:nvSpPr>
          <p:cNvPr id="13" name="Rounded Rectangle 12"/>
          <p:cNvSpPr/>
          <p:nvPr/>
        </p:nvSpPr>
        <p:spPr>
          <a:xfrm>
            <a:off x="3520440" y="2880360"/>
            <a:ext cx="219456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50" b="1">
                <a:solidFill>
                  <a:srgbClr val="192D4B"/>
                </a:solidFill>
              </a:rPr>
              <a:t>Fuzzy matching</a:t>
            </a:r>
          </a:p>
        </p:txBody>
      </p:sp>
      <p:sp>
        <p:nvSpPr>
          <p:cNvPr id="14" name="Rounded Rectangle 13"/>
          <p:cNvSpPr/>
          <p:nvPr/>
        </p:nvSpPr>
        <p:spPr>
          <a:xfrm>
            <a:off x="5852160" y="2880360"/>
            <a:ext cx="5486400" cy="621792"/>
          </a:xfrm>
          <a:prstGeom prst="roundRect">
            <a:avLst/>
          </a:prstGeom>
          <a:solidFill>
            <a:srgbClr val="FFFFFF"/>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600" b="0" dirty="0">
                <a:solidFill>
                  <a:srgbClr val="232B34"/>
                </a:solidFill>
              </a:rPr>
              <a:t>Treat variants such as spelling/format differences as similar skills.</a:t>
            </a:r>
          </a:p>
        </p:txBody>
      </p:sp>
      <p:sp>
        <p:nvSpPr>
          <p:cNvPr id="15" name="Rounded Rectangle 14"/>
          <p:cNvSpPr/>
          <p:nvPr/>
        </p:nvSpPr>
        <p:spPr>
          <a:xfrm>
            <a:off x="640080" y="3703320"/>
            <a:ext cx="274320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20" b="1">
                <a:solidFill>
                  <a:srgbClr val="192D4B"/>
                </a:solidFill>
              </a:rPr>
              <a:t>Suffix Array + LCP</a:t>
            </a:r>
          </a:p>
        </p:txBody>
      </p:sp>
      <p:sp>
        <p:nvSpPr>
          <p:cNvPr id="16" name="Rounded Rectangle 15"/>
          <p:cNvSpPr/>
          <p:nvPr/>
        </p:nvSpPr>
        <p:spPr>
          <a:xfrm>
            <a:off x="3520440" y="3703320"/>
            <a:ext cx="219456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50" b="1">
                <a:solidFill>
                  <a:srgbClr val="192D4B"/>
                </a:solidFill>
              </a:rPr>
              <a:t>Text similarity</a:t>
            </a:r>
          </a:p>
        </p:txBody>
      </p:sp>
      <p:sp>
        <p:nvSpPr>
          <p:cNvPr id="17" name="Rounded Rectangle 16"/>
          <p:cNvSpPr/>
          <p:nvPr/>
        </p:nvSpPr>
        <p:spPr>
          <a:xfrm>
            <a:off x="5852160" y="3703320"/>
            <a:ext cx="5486400" cy="621792"/>
          </a:xfrm>
          <a:prstGeom prst="roundRect">
            <a:avLst/>
          </a:prstGeom>
          <a:solidFill>
            <a:srgbClr val="FFFFFF"/>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600" b="0" dirty="0">
                <a:solidFill>
                  <a:srgbClr val="232B34"/>
                </a:solidFill>
              </a:rPr>
              <a:t>Support fast suffix/prefix comparisons across indexed résumé text.</a:t>
            </a:r>
          </a:p>
        </p:txBody>
      </p:sp>
      <p:sp>
        <p:nvSpPr>
          <p:cNvPr id="18" name="Rounded Rectangle 17"/>
          <p:cNvSpPr/>
          <p:nvPr/>
        </p:nvSpPr>
        <p:spPr>
          <a:xfrm>
            <a:off x="640080" y="4526280"/>
            <a:ext cx="274320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20" b="1">
                <a:solidFill>
                  <a:srgbClr val="192D4B"/>
                </a:solidFill>
              </a:rPr>
              <a:t>Bipartite Matching / Max-Flow</a:t>
            </a:r>
          </a:p>
        </p:txBody>
      </p:sp>
      <p:sp>
        <p:nvSpPr>
          <p:cNvPr id="19" name="Rounded Rectangle 18"/>
          <p:cNvSpPr/>
          <p:nvPr/>
        </p:nvSpPr>
        <p:spPr>
          <a:xfrm>
            <a:off x="3520440" y="4526280"/>
            <a:ext cx="219456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50" b="1">
                <a:solidFill>
                  <a:srgbClr val="192D4B"/>
                </a:solidFill>
              </a:rPr>
              <a:t>Role assignment</a:t>
            </a:r>
          </a:p>
        </p:txBody>
      </p:sp>
      <p:sp>
        <p:nvSpPr>
          <p:cNvPr id="20" name="Rounded Rectangle 19"/>
          <p:cNvSpPr/>
          <p:nvPr/>
        </p:nvSpPr>
        <p:spPr>
          <a:xfrm>
            <a:off x="5852160" y="4526280"/>
            <a:ext cx="5486400" cy="621792"/>
          </a:xfrm>
          <a:prstGeom prst="roundRect">
            <a:avLst/>
          </a:prstGeom>
          <a:solidFill>
            <a:srgbClr val="FFFFFF"/>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600" b="0" dirty="0">
                <a:solidFill>
                  <a:srgbClr val="232B34"/>
                </a:solidFill>
              </a:rPr>
              <a:t>Candidates ↔ jobs form a bipartite graph; matching selects compatible assignments</a:t>
            </a:r>
            <a:r>
              <a:rPr sz="1150" b="0" dirty="0">
                <a:solidFill>
                  <a:srgbClr val="232B34"/>
                </a:solidFill>
              </a:rPr>
              <a:t>.</a:t>
            </a:r>
          </a:p>
        </p:txBody>
      </p:sp>
      <p:sp>
        <p:nvSpPr>
          <p:cNvPr id="21" name="Rounded Rectangle 20"/>
          <p:cNvSpPr/>
          <p:nvPr/>
        </p:nvSpPr>
        <p:spPr>
          <a:xfrm>
            <a:off x="640080" y="5349240"/>
            <a:ext cx="274320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20" b="1">
                <a:solidFill>
                  <a:srgbClr val="192D4B"/>
                </a:solidFill>
              </a:rPr>
              <a:t>Greedy Set Cover Approx.</a:t>
            </a:r>
          </a:p>
        </p:txBody>
      </p:sp>
      <p:sp>
        <p:nvSpPr>
          <p:cNvPr id="22" name="Rounded Rectangle 21"/>
          <p:cNvSpPr/>
          <p:nvPr/>
        </p:nvSpPr>
        <p:spPr>
          <a:xfrm>
            <a:off x="3520440" y="5349240"/>
            <a:ext cx="2194560" cy="621792"/>
          </a:xfrm>
          <a:prstGeom prst="roundRect">
            <a:avLst/>
          </a:prstGeom>
          <a:solidFill>
            <a:srgbClr val="F4F7FA"/>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50" b="1">
                <a:solidFill>
                  <a:srgbClr val="192D4B"/>
                </a:solidFill>
              </a:rPr>
              <a:t>Team formation</a:t>
            </a:r>
          </a:p>
        </p:txBody>
      </p:sp>
      <p:sp>
        <p:nvSpPr>
          <p:cNvPr id="23" name="Rounded Rectangle 22"/>
          <p:cNvSpPr/>
          <p:nvPr/>
        </p:nvSpPr>
        <p:spPr>
          <a:xfrm>
            <a:off x="5852160" y="5349240"/>
            <a:ext cx="5486400" cy="621792"/>
          </a:xfrm>
          <a:prstGeom prst="roundRect">
            <a:avLst/>
          </a:prstGeom>
          <a:solidFill>
            <a:srgbClr val="FFFFFF"/>
          </a:solidFill>
          <a:ln>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600" b="0" dirty="0">
                <a:solidFill>
                  <a:srgbClr val="232B34"/>
                </a:solidFill>
              </a:rPr>
              <a:t>Select a small candidate set whose combined skills cover project requirements</a:t>
            </a:r>
            <a:r>
              <a:rPr sz="1150" b="0" dirty="0">
                <a:solidFill>
                  <a:srgbClr val="232B34"/>
                </a:solidFill>
              </a:rPr>
              <a:t>.</a:t>
            </a:r>
          </a:p>
        </p:txBody>
      </p:sp>
      <p:sp>
        <p:nvSpPr>
          <p:cNvPr id="24" name="Rectangle 23"/>
          <p:cNvSpPr/>
          <p:nvPr/>
        </p:nvSpPr>
        <p:spPr>
          <a:xfrm>
            <a:off x="640080" y="6473952"/>
            <a:ext cx="1088136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81360" y="6510528"/>
            <a:ext cx="457200" cy="182880"/>
          </a:xfrm>
          <a:prstGeom prst="rect">
            <a:avLst/>
          </a:prstGeom>
          <a:noFill/>
        </p:spPr>
        <p:txBody>
          <a:bodyPr wrap="none">
            <a:spAutoFit/>
          </a:bodyPr>
          <a:lstStyle/>
          <a:p>
            <a:pPr algn="r"/>
            <a:r>
              <a:rPr sz="900">
                <a:solidFill>
                  <a:srgbClr val="697480"/>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4048"/>
            <a:ext cx="10789920" cy="502920"/>
          </a:xfrm>
          <a:prstGeom prst="rect">
            <a:avLst/>
          </a:prstGeom>
          <a:noFill/>
        </p:spPr>
        <p:txBody>
          <a:bodyPr wrap="none">
            <a:spAutoFit/>
          </a:bodyPr>
          <a:lstStyle/>
          <a:p>
            <a:r>
              <a:rPr sz="2700" b="1">
                <a:solidFill>
                  <a:srgbClr val="192D4B"/>
                </a:solidFill>
              </a:rPr>
              <a:t>8. Conclusion</a:t>
            </a:r>
          </a:p>
        </p:txBody>
      </p:sp>
      <p:sp>
        <p:nvSpPr>
          <p:cNvPr id="5" name="TextBox 4"/>
          <p:cNvSpPr txBox="1"/>
          <p:nvPr/>
        </p:nvSpPr>
        <p:spPr>
          <a:xfrm>
            <a:off x="658368" y="932688"/>
            <a:ext cx="10515600" cy="320040"/>
          </a:xfrm>
          <a:prstGeom prst="rect">
            <a:avLst/>
          </a:prstGeom>
          <a:noFill/>
        </p:spPr>
        <p:txBody>
          <a:bodyPr wrap="none">
            <a:spAutoFit/>
          </a:bodyPr>
          <a:lstStyle/>
          <a:p>
            <a:r>
              <a:rPr sz="1100">
                <a:solidFill>
                  <a:srgbClr val="697480"/>
                </a:solidFill>
              </a:rPr>
              <a:t>Why these algorithms fit the project</a:t>
            </a:r>
          </a:p>
        </p:txBody>
      </p:sp>
      <p:sp>
        <p:nvSpPr>
          <p:cNvPr id="6" name="TextBox 5"/>
          <p:cNvSpPr txBox="1"/>
          <p:nvPr/>
        </p:nvSpPr>
        <p:spPr>
          <a:xfrm>
            <a:off x="822960" y="1417320"/>
            <a:ext cx="10515600" cy="4663440"/>
          </a:xfrm>
          <a:prstGeom prst="rect">
            <a:avLst/>
          </a:prstGeom>
          <a:noFill/>
        </p:spPr>
        <p:txBody>
          <a:bodyPr wrap="square">
            <a:spAutoFit/>
          </a:bodyPr>
          <a:lstStyle/>
          <a:p>
            <a:pPr>
              <a:spcAft>
                <a:spcPts val="1200"/>
              </a:spcAft>
              <a:defRPr sz="1700">
                <a:solidFill>
                  <a:srgbClr val="232B34"/>
                </a:solidFill>
              </a:defRPr>
            </a:pPr>
            <a:r>
              <a:t>• KMP and Z-Function provide efficient exact pattern matching for skill extraction.</a:t>
            </a:r>
          </a:p>
          <a:p>
            <a:pPr>
              <a:spcAft>
                <a:spcPts val="1200"/>
              </a:spcAft>
              <a:defRPr sz="1700">
                <a:solidFill>
                  <a:srgbClr val="232B34"/>
                </a:solidFill>
              </a:defRPr>
            </a:pPr>
            <a:r>
              <a:t>• Rabin–Karp enables fast hash-based searching over large résumé and job text collections.</a:t>
            </a:r>
          </a:p>
          <a:p>
            <a:pPr>
              <a:spcAft>
                <a:spcPts val="1200"/>
              </a:spcAft>
              <a:defRPr sz="1700">
                <a:solidFill>
                  <a:srgbClr val="232B34"/>
                </a:solidFill>
              </a:defRPr>
            </a:pPr>
            <a:r>
              <a:t>• Levenshtein / Damerau-Levenshtein Dynamic Programming handles fuzzy skill-name matching.</a:t>
            </a:r>
          </a:p>
          <a:p>
            <a:pPr>
              <a:spcAft>
                <a:spcPts val="1200"/>
              </a:spcAft>
              <a:defRPr sz="1700">
                <a:solidFill>
                  <a:srgbClr val="232B34"/>
                </a:solidFill>
              </a:defRPr>
            </a:pPr>
            <a:r>
              <a:t>• Suffix Arrays and LCP support efficient indexed text-similarity operations.</a:t>
            </a:r>
          </a:p>
          <a:p>
            <a:pPr>
              <a:spcAft>
                <a:spcPts val="1200"/>
              </a:spcAft>
              <a:defRPr sz="1700">
                <a:solidFill>
                  <a:srgbClr val="232B34"/>
                </a:solidFill>
              </a:defRPr>
            </a:pPr>
            <a:r>
              <a:t>• Bipartite Matching and Max-Flow optimize candidate-to-role assignments.</a:t>
            </a:r>
          </a:p>
          <a:p>
            <a:pPr>
              <a:spcAft>
                <a:spcPts val="1200"/>
              </a:spcAft>
              <a:defRPr sz="1700">
                <a:solidFill>
                  <a:srgbClr val="232B34"/>
                </a:solidFill>
              </a:defRPr>
            </a:pPr>
            <a:r>
              <a:t>• Greedy Set Cover approximation helps build compact teams that cover required project skills.</a:t>
            </a:r>
          </a:p>
        </p:txBody>
      </p:sp>
      <p:sp>
        <p:nvSpPr>
          <p:cNvPr id="7" name="Rectangle 6"/>
          <p:cNvSpPr/>
          <p:nvPr/>
        </p:nvSpPr>
        <p:spPr>
          <a:xfrm>
            <a:off x="640080" y="6473952"/>
            <a:ext cx="10881360" cy="9144"/>
          </a:xfrm>
          <a:prstGeom prst="rect">
            <a:avLst/>
          </a:prstGeom>
          <a:solidFill>
            <a:srgbClr val="E0E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881360" y="6510528"/>
            <a:ext cx="457200" cy="182880"/>
          </a:xfrm>
          <a:prstGeom prst="rect">
            <a:avLst/>
          </a:prstGeom>
          <a:noFill/>
        </p:spPr>
        <p:txBody>
          <a:bodyPr wrap="none">
            <a:spAutoFit/>
          </a:bodyPr>
          <a:lstStyle/>
          <a:p>
            <a:pPr algn="r"/>
            <a:r>
              <a:rPr sz="900">
                <a:solidFill>
                  <a:srgbClr val="697480"/>
                </a:solidFill>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743</Words>
  <Application>Microsoft Office PowerPoint</Application>
  <PresentationFormat>Widescreen</PresentationFormat>
  <Paragraphs>89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J.sohan</dc:creator>
  <cp:keywords/>
  <dc:description>generated using python-pptx</dc:description>
  <cp:lastModifiedBy>sohanjadala@outlook.com</cp:lastModifiedBy>
  <cp:revision>2</cp:revision>
  <dcterms:created xsi:type="dcterms:W3CDTF">2013-01-27T09:14:16Z</dcterms:created>
  <dcterms:modified xsi:type="dcterms:W3CDTF">2026-09-02T15:57:50Z</dcterms:modified>
  <cp:category/>
</cp:coreProperties>
</file>